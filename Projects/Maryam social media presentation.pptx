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6"/>
  </p:notesMasterIdLst>
  <p:sldIdLst>
    <p:sldId id="256" r:id="rId2"/>
    <p:sldId id="266" r:id="rId3"/>
    <p:sldId id="265" r:id="rId4"/>
    <p:sldId id="267" r:id="rId5"/>
    <p:sldId id="264" r:id="rId6"/>
    <p:sldId id="258" r:id="rId7"/>
    <p:sldId id="259" r:id="rId8"/>
    <p:sldId id="263" r:id="rId9"/>
    <p:sldId id="260" r:id="rId10"/>
    <p:sldId id="268" r:id="rId11"/>
    <p:sldId id="269" r:id="rId12"/>
    <p:sldId id="270" r:id="rId13"/>
    <p:sldId id="261" r:id="rId14"/>
    <p:sldId id="262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061" autoAdjust="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CC3091-0070-413F-B66A-E0E13593E89C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BBC5A0-5F44-47C8-8F64-C156130B8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50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BC5A0-5F44-47C8-8F64-C156130B82D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03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93BC0-FACC-400B-2441-A8BD6584D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FE07AD-9C0E-4FE1-531B-B2D93E1E9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70E266-A178-BFE5-9D86-65010AA34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6FB1E-6477-5DE4-8BDF-5434E6D85D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BC5A0-5F44-47C8-8F64-C156130B82D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20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A3DFA-893A-2FAD-B55E-CAF85BAA2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361AB0-758C-00EE-83ED-F3E5B49A4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9E623A-D0F6-7D3D-451F-7DC2FC50B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612C0-B594-ECBE-0315-1B1BBE8BD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BC5A0-5F44-47C8-8F64-C156130B82D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96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FE42A-D1EE-DDFC-7AB9-CD079159C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CB552A-D074-3DB8-7691-A39A7B5E6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85BA2-EE48-3622-698D-62AEC8ECF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0A647-5BFD-8F37-8CCE-EF1D44A0E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BC5A0-5F44-47C8-8F64-C156130B82D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89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90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51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2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26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116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146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652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686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76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98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227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5518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685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5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98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386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82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962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9000"/>
            <a:lum/>
          </a:blip>
          <a:srcRect/>
          <a:stretch>
            <a:fillRect t="-23000" b="-2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noFill/>
          <a:effectLst>
            <a:glow rad="127000">
              <a:srgbClr val="002060"/>
            </a:glow>
          </a:effectLst>
        </p:spPr>
        <p:txBody>
          <a:bodyPr>
            <a:normAutofit fontScale="90000"/>
          </a:bodyPr>
          <a:lstStyle/>
          <a:p>
            <a:r>
              <a:rPr dirty="0">
                <a:gradFill>
                  <a:gsLst>
                    <a:gs pos="0">
                      <a:srgbClr val="002060"/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rgbClr val="00B0F0"/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rPr>
              <a:t>Students Social Media Usage &amp; Mental Health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4031263"/>
            <a:ext cx="7773308" cy="85845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effectLst>
                  <a:outerShdw blurRad="50800" dist="38100" dir="2700000" algn="tl" rotWithShape="0">
                    <a:srgbClr val="0070C0">
                      <a:alpha val="48000"/>
                    </a:srgbClr>
                  </a:outerShdw>
                </a:effectLst>
              </a:rPr>
              <a:t>By</a:t>
            </a:r>
            <a:r>
              <a:rPr lang="en-US">
                <a:solidFill>
                  <a:srgbClr val="0070C0"/>
                </a:solidFill>
                <a:effectLst>
                  <a:outerShdw blurRad="50800" dist="38100" dir="2700000" algn="tl" rotWithShape="0">
                    <a:srgbClr val="0070C0">
                      <a:alpha val="48000"/>
                    </a:srgbClr>
                  </a:outerShdw>
                </a:effectLst>
              </a:rPr>
              <a:t>: MARYAM ENILOLOBO </a:t>
            </a:r>
            <a:endParaRPr dirty="0">
              <a:solidFill>
                <a:srgbClr val="0070C0"/>
              </a:solidFill>
              <a:effectLst>
                <a:outerShdw blurRad="50800" dist="38100" dir="2700000" algn="tl" rotWithShape="0">
                  <a:srgbClr val="0070C0">
                    <a:alpha val="48000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31"/>
    </mc:Choice>
    <mc:Fallback xmlns="">
      <p:transition spd="slow" advTm="143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0236A-8D17-DD1D-300B-46100E0A7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850489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CB811-702E-5005-D533-52CB0DD1B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460090"/>
            <a:ext cx="7765322" cy="4454014"/>
          </a:xfrm>
        </p:spPr>
        <p:txBody>
          <a:bodyPr/>
          <a:lstStyle/>
          <a:p>
            <a:r>
              <a:rPr lang="en-US" dirty="0"/>
              <a:t>Social media has become an essential part of students' academic and social lives</a:t>
            </a:r>
          </a:p>
          <a:p>
            <a:r>
              <a:rPr lang="en-US" dirty="0"/>
              <a:t>While it enhances communication and learning, excessive use may affect students' mental health, sleep, and academic performance</a:t>
            </a:r>
          </a:p>
          <a:p>
            <a:r>
              <a:rPr lang="en-US" dirty="0"/>
              <a:t>This study aims to analyze these relationships using data visualization techniques in Microsoft Power BI</a:t>
            </a:r>
          </a:p>
        </p:txBody>
      </p:sp>
    </p:spTree>
    <p:extLst>
      <p:ext uri="{BB962C8B-B14F-4D97-AF65-F5344CB8AC3E}">
        <p14:creationId xmlns:p14="http://schemas.microsoft.com/office/powerpoint/2010/main" val="1099705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803"/>
    </mc:Choice>
    <mc:Fallback xmlns="">
      <p:transition spd="slow" advTm="3480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30FF7-62CB-51E5-4290-0B1D4738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2D2B9-C421-F114-1EA8-16F737BC9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growing use of social media among students has raised concerns about its impact on mental health and academic performance</a:t>
            </a:r>
          </a:p>
          <a:p>
            <a:r>
              <a:rPr lang="en-US" dirty="0"/>
              <a:t>However, there is limited data-driven evidence to explain these effects</a:t>
            </a:r>
          </a:p>
          <a:p>
            <a:r>
              <a:rPr lang="en-US" dirty="0"/>
              <a:t>Hence, this project analyses students’ data, to provide insights that support healthier digital habits and informed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3683894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715"/>
    </mc:Choice>
    <mc:Fallback xmlns="">
      <p:transition spd="slow" advTm="2471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64456-3725-6335-DEE3-CEBAA0210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5EBE2-971C-85D3-6D02-FC0AAEE6A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38813-6B88-3B33-43C5-6863D3BDC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analyze relationships between students' social media usage and mental health </a:t>
            </a:r>
          </a:p>
          <a:p>
            <a:r>
              <a:rPr lang="en-US" dirty="0"/>
              <a:t>To examine relationships between lifestyle variables and mental health</a:t>
            </a:r>
          </a:p>
          <a:p>
            <a:r>
              <a:rPr lang="en-US" dirty="0"/>
              <a:t>To develop an interactive dashboard that supports evidence-based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158928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698"/>
    </mc:Choice>
    <mc:Fallback xmlns="">
      <p:transition spd="slow" advTm="2469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7196D-478C-2774-5113-F6BCE877E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309719"/>
            <a:ext cx="7765321" cy="776747"/>
          </a:xfrm>
        </p:spPr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06759-F722-9360-0808-E40C6170E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729" y="1086465"/>
            <a:ext cx="8731045" cy="5461815"/>
          </a:xfrm>
        </p:spPr>
        <p:txBody>
          <a:bodyPr>
            <a:normAutofit/>
          </a:bodyPr>
          <a:lstStyle/>
          <a:p>
            <a:r>
              <a:rPr lang="en-US" sz="2200" dirty="0"/>
              <a:t>Which social media platforms are the most and least used by students? </a:t>
            </a:r>
          </a:p>
          <a:p>
            <a:r>
              <a:rPr lang="en-US" sz="2200" dirty="0"/>
              <a:t>What are the most common purposes of social media use? </a:t>
            </a:r>
          </a:p>
          <a:p>
            <a:r>
              <a:rPr lang="en-US" sz="2200" dirty="0"/>
              <a:t>Is there a relationship between daily social media usage and daily phone unlocks and mental health score? </a:t>
            </a:r>
          </a:p>
          <a:p>
            <a:r>
              <a:rPr lang="en-US" sz="2200" dirty="0"/>
              <a:t>How does daily social media usage affect students' study hours? </a:t>
            </a:r>
          </a:p>
          <a:p>
            <a:r>
              <a:rPr lang="en-US" sz="2200" dirty="0"/>
              <a:t>How does physical activity and sleep hours per night influence students' stress levels and mental health? </a:t>
            </a:r>
          </a:p>
          <a:p>
            <a:r>
              <a:rPr lang="en-US" sz="2200" dirty="0"/>
              <a:t>Which groups of students experience the highest and lowest stress levels based on gender, academic level, or country? </a:t>
            </a:r>
          </a:p>
        </p:txBody>
      </p:sp>
    </p:spTree>
    <p:extLst>
      <p:ext uri="{BB962C8B-B14F-4D97-AF65-F5344CB8AC3E}">
        <p14:creationId xmlns:p14="http://schemas.microsoft.com/office/powerpoint/2010/main" val="1336177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267"/>
    </mc:Choice>
    <mc:Fallback xmlns="">
      <p:transition spd="slow" advTm="4026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METHODOLODY</a:t>
            </a:r>
            <a:br>
              <a:rPr lang="en-US" b="1" dirty="0"/>
            </a:br>
            <a:r>
              <a:rPr sz="2400" b="1" dirty="0"/>
              <a:t>Dataset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457" y="2096063"/>
            <a:ext cx="8421329" cy="3965523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b="1" dirty="0"/>
              <a:t>Dataset</a:t>
            </a:r>
            <a:r>
              <a:rPr lang="en-US" dirty="0"/>
              <a:t>: Student demographics, usage, lifestyle, mental health</a:t>
            </a:r>
          </a:p>
          <a:p>
            <a:pPr>
              <a:defRPr sz="2200"/>
            </a:pPr>
            <a:r>
              <a:rPr lang="en-US" b="1" dirty="0"/>
              <a:t>Tool</a:t>
            </a:r>
            <a:r>
              <a:rPr lang="en-US" dirty="0"/>
              <a:t>: Microsoft Power BI</a:t>
            </a:r>
          </a:p>
          <a:p>
            <a:pPr>
              <a:defRPr sz="2200"/>
            </a:pPr>
            <a:r>
              <a:rPr b="1" dirty="0"/>
              <a:t>Variables</a:t>
            </a:r>
            <a:r>
              <a:rPr dirty="0"/>
              <a:t>: Gender, Country, Academic Level, Usage Hours, Unlocks, Sleep, Study, Physical Activity, Stress Level, Mental Health Score</a:t>
            </a:r>
          </a:p>
          <a:p>
            <a:pPr>
              <a:defRPr sz="2200"/>
            </a:pPr>
            <a:r>
              <a:rPr b="1" dirty="0"/>
              <a:t>Cleaned</a:t>
            </a:r>
            <a:r>
              <a:rPr dirty="0"/>
              <a:t> missing values, verified types, created age bins/measures.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707"/>
    </mc:Choice>
    <mc:Fallback xmlns="">
      <p:transition spd="slow" advTm="4370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339" y="93407"/>
            <a:ext cx="7765321" cy="1326321"/>
          </a:xfrm>
        </p:spPr>
        <p:txBody>
          <a:bodyPr/>
          <a:lstStyle/>
          <a:p>
            <a:r>
              <a:rPr lang="en-US" b="1" dirty="0"/>
              <a:t>Results of analysis</a:t>
            </a:r>
            <a:br>
              <a:rPr lang="en-US" b="1" dirty="0"/>
            </a:br>
            <a:r>
              <a:rPr sz="2400" b="1" dirty="0"/>
              <a:t>Dashboard</a:t>
            </a:r>
            <a:r>
              <a:rPr lang="en-US" sz="2400" b="1" dirty="0"/>
              <a:t> overview</a:t>
            </a:r>
            <a:endParaRPr sz="2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26D3F4-DF3E-02BC-0422-A116DD4198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44244" y="1272760"/>
            <a:ext cx="9057828" cy="5585240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874"/>
    </mc:Choice>
    <mc:Fallback xmlns="">
      <p:transition spd="slow" advTm="1787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8DB24-B087-73E1-FE4B-8AA035F30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8610-2062-A63C-7379-87380A814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7" y="78659"/>
            <a:ext cx="7765321" cy="1326321"/>
          </a:xfrm>
        </p:spPr>
        <p:txBody>
          <a:bodyPr/>
          <a:lstStyle/>
          <a:p>
            <a:r>
              <a:rPr lang="en-US" dirty="0"/>
              <a:t>Results of analysis</a:t>
            </a:r>
            <a:br>
              <a:rPr lang="en-US" dirty="0"/>
            </a:br>
            <a:r>
              <a:rPr lang="en-US" sz="2400" dirty="0"/>
              <a:t>Dashboard overview (Cont’d)</a:t>
            </a:r>
            <a:endParaRPr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6A31A5-947D-794A-8137-2DA5F5E22C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48" y="1463428"/>
            <a:ext cx="9129252" cy="5365075"/>
          </a:xfrm>
        </p:spPr>
      </p:pic>
    </p:spTree>
    <p:extLst>
      <p:ext uri="{BB962C8B-B14F-4D97-AF65-F5344CB8AC3E}">
        <p14:creationId xmlns:p14="http://schemas.microsoft.com/office/powerpoint/2010/main" val="284126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09"/>
    </mc:Choice>
    <mc:Fallback xmlns="">
      <p:transition spd="slow" advTm="690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339" y="152401"/>
            <a:ext cx="7765321" cy="673509"/>
          </a:xfrm>
        </p:spPr>
        <p:txBody>
          <a:bodyPr>
            <a:normAutofit fontScale="90000"/>
          </a:bodyPr>
          <a:lstStyle/>
          <a:p>
            <a:r>
              <a:rPr b="1" dirty="0"/>
              <a:t>Key Findings</a:t>
            </a:r>
            <a:br>
              <a:rPr lang="en-US" b="1" dirty="0"/>
            </a:br>
            <a:r>
              <a:rPr lang="en-US" sz="2400" b="1" dirty="0"/>
              <a:t>RESEARCH ANSWERS</a:t>
            </a:r>
            <a:endParaRPr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756C-6533-575B-2AF9-5CD9944AD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487" y="825910"/>
            <a:ext cx="4439265" cy="774862"/>
          </a:xfrm>
        </p:spPr>
        <p:txBody>
          <a:bodyPr>
            <a:noAutofit/>
          </a:bodyPr>
          <a:lstStyle/>
          <a:p>
            <a:r>
              <a:rPr lang="en-US" sz="1800" dirty="0"/>
              <a:t>R1: Which social media platforms are the most and least used by students?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D73C6C-1752-0A89-0D4F-0C8417BDD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1414" y="825910"/>
            <a:ext cx="4372358" cy="774861"/>
          </a:xfrm>
        </p:spPr>
        <p:txBody>
          <a:bodyPr>
            <a:noAutofit/>
          </a:bodyPr>
          <a:lstStyle/>
          <a:p>
            <a:r>
              <a:rPr lang="en-US" sz="1800" dirty="0"/>
              <a:t>R2: What are the most common purposes of social media use?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3F7882E-EFF4-77DA-A8E5-3504A481F0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5586" y="1674315"/>
            <a:ext cx="4439265" cy="5214608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ABAD4F-BC36-C7F8-A8B9-C9073A98F19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4672226" y="1703811"/>
            <a:ext cx="4270734" cy="39378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987"/>
    </mc:Choice>
    <mc:Fallback xmlns="">
      <p:transition spd="slow" advTm="5298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6475-D2AA-43E1-D108-F4F83D1A3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DA3E6-9BBB-FA45-F02C-ACE9F08E8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152401"/>
            <a:ext cx="7765321" cy="673509"/>
          </a:xfrm>
        </p:spPr>
        <p:txBody>
          <a:bodyPr>
            <a:normAutofit fontScale="90000"/>
          </a:bodyPr>
          <a:lstStyle/>
          <a:p>
            <a:r>
              <a:rPr b="1" dirty="0"/>
              <a:t>Key Findings</a:t>
            </a:r>
            <a:br>
              <a:rPr lang="en-US" b="1" dirty="0"/>
            </a:br>
            <a:r>
              <a:rPr lang="en-US" sz="2400" b="1" dirty="0"/>
              <a:t>RESEARCH ANSWERS</a:t>
            </a:r>
            <a:endParaRPr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2B3170-723C-D4A7-42EF-4F6EDA20E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487" y="825910"/>
            <a:ext cx="8866473" cy="774862"/>
          </a:xfrm>
        </p:spPr>
        <p:txBody>
          <a:bodyPr>
            <a:noAutofit/>
          </a:bodyPr>
          <a:lstStyle/>
          <a:p>
            <a:r>
              <a:rPr lang="en-US" sz="1800" dirty="0"/>
              <a:t>R3: Is there a relationship between daily social media usage and daily phone unlocks and mental health score?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50E1AF-2E63-2B6C-A4C4-0E049A17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80" y="1703810"/>
            <a:ext cx="4409820" cy="35383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57213F-BDE8-7DF7-7350-5E4DEFE84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723" y="1703811"/>
            <a:ext cx="3956923" cy="487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844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459"/>
    </mc:Choice>
    <mc:Fallback xmlns="">
      <p:transition spd="slow" advTm="4045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C397A-E486-E9B2-8550-8AC2D941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2AA41-7005-4EDD-E5A3-B7221314B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291202"/>
            <a:ext cx="7765321" cy="673509"/>
          </a:xfrm>
        </p:spPr>
        <p:txBody>
          <a:bodyPr>
            <a:normAutofit fontScale="90000"/>
          </a:bodyPr>
          <a:lstStyle/>
          <a:p>
            <a:r>
              <a:rPr b="1" dirty="0"/>
              <a:t>Key Findings</a:t>
            </a:r>
            <a:br>
              <a:rPr lang="en-US" b="1" dirty="0"/>
            </a:br>
            <a:r>
              <a:rPr lang="en-US" sz="2400" b="1" dirty="0"/>
              <a:t>RESEARCH ANSWERS</a:t>
            </a:r>
            <a:endParaRPr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D0288-0E65-07D4-67DF-06E2A010D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487" y="1232065"/>
            <a:ext cx="4439265" cy="567238"/>
          </a:xfrm>
        </p:spPr>
        <p:txBody>
          <a:bodyPr>
            <a:noAutofit/>
          </a:bodyPr>
          <a:lstStyle/>
          <a:p>
            <a:r>
              <a:rPr lang="en-US" sz="1800" dirty="0"/>
              <a:t>R4: How does daily social media usage affect students' study hours?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AE102E-F8B0-37FB-A417-935E7D7F52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64573" y="1232065"/>
            <a:ext cx="4372358" cy="774861"/>
          </a:xfrm>
        </p:spPr>
        <p:txBody>
          <a:bodyPr>
            <a:noAutofit/>
          </a:bodyPr>
          <a:lstStyle/>
          <a:p>
            <a:r>
              <a:rPr lang="en-US" sz="1800" dirty="0"/>
              <a:t>R5: How does physical activity &amp; sleep hour per night influence students' stress levels?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687F5A-018B-D43F-1F0E-537ED7A03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478" y="2274279"/>
            <a:ext cx="4258454" cy="32268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A93199-5521-A98C-0772-A8BE3033F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8" y="2274280"/>
            <a:ext cx="4588086" cy="322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54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43"/>
    </mc:Choice>
    <mc:Fallback xmlns="">
      <p:transition spd="slow" advTm="3074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C23F8-1A96-E294-C04D-082E42A2F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98ECD-D322-6D1C-872C-8CD7D39E1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152401"/>
            <a:ext cx="7765321" cy="673509"/>
          </a:xfrm>
        </p:spPr>
        <p:txBody>
          <a:bodyPr>
            <a:normAutofit fontScale="90000"/>
          </a:bodyPr>
          <a:lstStyle/>
          <a:p>
            <a:r>
              <a:rPr b="1" dirty="0"/>
              <a:t>Key Findings</a:t>
            </a:r>
            <a:br>
              <a:rPr lang="en-US" b="1" dirty="0"/>
            </a:br>
            <a:r>
              <a:rPr lang="en-US" sz="2400" b="1" dirty="0"/>
              <a:t>RESEARCH ANSWERS</a:t>
            </a:r>
            <a:endParaRPr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9E475-34BC-780A-63B2-E7D9720BA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487" y="825910"/>
            <a:ext cx="8866473" cy="774862"/>
          </a:xfrm>
        </p:spPr>
        <p:txBody>
          <a:bodyPr>
            <a:noAutofit/>
          </a:bodyPr>
          <a:lstStyle/>
          <a:p>
            <a:r>
              <a:rPr lang="en-US" sz="1800" dirty="0"/>
              <a:t>R6: Which groups of students experience the highest and lowest stress levels based on gender, academic level, or country?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762D6D-2BE3-B840-5A69-190829570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38" y="1748252"/>
            <a:ext cx="3615590" cy="21034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4B6CB8-40B6-4D34-9EA3-D7D943EC9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227" y="1748252"/>
            <a:ext cx="3661434" cy="21034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CC78AC-AD39-568A-191F-59176EFE33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019" y="4225259"/>
            <a:ext cx="8080549" cy="227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14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481"/>
    </mc:Choice>
    <mc:Fallback xmlns="">
      <p:transition spd="slow" advTm="3248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sz="2400" dirty="0"/>
              <a:t>Promote healthy digital habits</a:t>
            </a:r>
          </a:p>
          <a:p>
            <a:pPr>
              <a:defRPr sz="2200"/>
            </a:pPr>
            <a:r>
              <a:rPr sz="2400" dirty="0"/>
              <a:t>Encourage sleep and exercise</a:t>
            </a:r>
          </a:p>
          <a:p>
            <a:pPr>
              <a:defRPr sz="2200"/>
            </a:pPr>
            <a:r>
              <a:rPr sz="2400" dirty="0"/>
              <a:t>Provide mental health awareness and counselling</a:t>
            </a:r>
          </a:p>
          <a:p>
            <a:pPr>
              <a:defRPr sz="2200"/>
            </a:pPr>
            <a:r>
              <a:rPr sz="2400" dirty="0"/>
              <a:t>Continue monitoring student wellbeing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376"/>
    </mc:Choice>
    <mc:Fallback xmlns="">
      <p:transition spd="slow" advTm="4137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 sz="2200"/>
            </a:pPr>
            <a:r>
              <a:rPr lang="en-US" dirty="0"/>
              <a:t>An </a:t>
            </a:r>
            <a:r>
              <a:rPr dirty="0"/>
              <a:t>interactive analysis</a:t>
            </a:r>
            <a:r>
              <a:rPr lang="en-US" dirty="0"/>
              <a:t> was conducted on the students’ social media usage data. The resulting </a:t>
            </a:r>
            <a:r>
              <a:rPr lang="en-US" dirty="0" err="1"/>
              <a:t>PowerBI</a:t>
            </a:r>
            <a:r>
              <a:rPr lang="en-US" dirty="0"/>
              <a:t> dashboard</a:t>
            </a:r>
            <a:r>
              <a:rPr dirty="0"/>
              <a:t> </a:t>
            </a:r>
            <a:r>
              <a:rPr lang="en-US" dirty="0"/>
              <a:t>effectively highlights the relationship between students' digital </a:t>
            </a:r>
            <a:r>
              <a:rPr lang="en-US" dirty="0" err="1"/>
              <a:t>behaviour</a:t>
            </a:r>
            <a:r>
              <a:rPr lang="en-US" dirty="0"/>
              <a:t> and mental health, providing valuable information that can support better decision-making by students, educators, and policymakers.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517"/>
    </mc:Choice>
    <mc:Fallback xmlns="">
      <p:transition spd="slow" advTm="28517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6054</TotalTime>
  <Words>511</Words>
  <Application>Microsoft Office PowerPoint</Application>
  <PresentationFormat>On-screen Show (4:3)</PresentationFormat>
  <Paragraphs>49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Bookman Old Style</vt:lpstr>
      <vt:lpstr>Calibri</vt:lpstr>
      <vt:lpstr>Rockwell</vt:lpstr>
      <vt:lpstr>Damask</vt:lpstr>
      <vt:lpstr>Students Social Media Usage &amp; Mental Health Analytics</vt:lpstr>
      <vt:lpstr>INTRODUCTION</vt:lpstr>
      <vt:lpstr>Problem Statement</vt:lpstr>
      <vt:lpstr>OBJECTIVES</vt:lpstr>
      <vt:lpstr>RESEARCH QUESTIONS</vt:lpstr>
      <vt:lpstr>METHODOLODY Dataset &amp; Preparation</vt:lpstr>
      <vt:lpstr>Results of analysis Dashboard overview</vt:lpstr>
      <vt:lpstr>Results of analysis Dashboard overview (Cont’d)</vt:lpstr>
      <vt:lpstr>Key Findings RESEARCH ANSWERS</vt:lpstr>
      <vt:lpstr>Key Findings RESEARCH ANSWERS</vt:lpstr>
      <vt:lpstr>Key Findings RESEARCH ANSWERS</vt:lpstr>
      <vt:lpstr>Key Findings RESEARCH ANSWERS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Adeyus Consulting and Foods</dc:creator>
  <cp:keywords/>
  <dc:description>generated using python-pptx</dc:description>
  <cp:lastModifiedBy>Adeyus Consulting and Foods</cp:lastModifiedBy>
  <cp:revision>61</cp:revision>
  <dcterms:created xsi:type="dcterms:W3CDTF">2013-01-27T09:14:16Z</dcterms:created>
  <dcterms:modified xsi:type="dcterms:W3CDTF">2026-09-01T05:51:02Z</dcterms:modified>
  <cp:category/>
</cp:coreProperties>
</file>